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80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30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3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61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5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10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55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8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7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5303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23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7317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13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1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40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91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sss.gouv.qc.ca/professionnels/statistiques/documents/urgences/Donnees_cumulatives_Urgence.csv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fr-FR" b="1" noProof="0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Analyse Prédictive </a:t>
            </a:r>
            <a:br>
              <a:rPr lang="fr-FR" sz="1200" noProof="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</a:br>
            <a:r>
              <a:rPr lang="fr-FR" b="1" noProof="0" dirty="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des Urgences</a:t>
            </a:r>
            <a:endParaRPr lang="fr-FR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Naive Bayes </a:t>
            </a:r>
            <a:r>
              <a:t>vs </a:t>
            </a:r>
            <a:r>
              <a:rPr lang="en-US"/>
              <a:t>DT vs RF</a:t>
            </a:r>
            <a:r>
              <a:t>(</a:t>
            </a:r>
            <a:r>
              <a:rPr dirty="0"/>
              <a:t>MSSS Québec)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noProof="0" dirty="0"/>
          </a:p>
          <a:p>
            <a:r>
              <a:rPr lang="fr-FR" noProof="0" dirty="0"/>
              <a:t>Objectif: Prédire le niveau d'occupation des urgences</a:t>
            </a:r>
          </a:p>
          <a:p>
            <a:endParaRPr lang="fr-FR" noProof="0" dirty="0"/>
          </a:p>
          <a:p>
            <a:r>
              <a:rPr lang="fr-FR" noProof="0" dirty="0"/>
              <a:t>Classes:</a:t>
            </a:r>
          </a:p>
          <a:p>
            <a:r>
              <a:rPr lang="fr-FR" noProof="0" dirty="0"/>
              <a:t>0 = Faible</a:t>
            </a:r>
          </a:p>
          <a:p>
            <a:r>
              <a:rPr lang="fr-FR" noProof="0" dirty="0"/>
              <a:t>1 = Moyenne</a:t>
            </a:r>
          </a:p>
          <a:p>
            <a:r>
              <a:rPr lang="fr-FR" noProof="0" dirty="0"/>
              <a:t>2 = Élevée</a:t>
            </a:r>
          </a:p>
          <a:p>
            <a:endParaRPr lang="fr-FR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607A-BC67-2BB2-CCEB-E10F798C4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B70F9-B3BE-C987-6F84-9AAA6EF09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Collecte de données  </a:t>
            </a:r>
          </a:p>
          <a:p>
            <a:r>
              <a:rPr lang="fr-FR" noProof="0" dirty="0"/>
              <a:t>EDA: Analyse exploratoire de données </a:t>
            </a:r>
          </a:p>
          <a:p>
            <a:r>
              <a:rPr lang="fr-FR" noProof="0" dirty="0"/>
              <a:t>Prétraitement</a:t>
            </a:r>
          </a:p>
          <a:p>
            <a:r>
              <a:rPr lang="fr-FR" dirty="0"/>
              <a:t>Développent du modèle</a:t>
            </a:r>
          </a:p>
          <a:p>
            <a:r>
              <a:rPr lang="fr-FR" dirty="0"/>
              <a:t>Evaluation   </a:t>
            </a:r>
            <a:endParaRPr lang="fr-FR" noProof="0" dirty="0"/>
          </a:p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47189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Collecte de données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928" y="502920"/>
            <a:ext cx="8229600" cy="6263640"/>
          </a:xfrm>
        </p:spPr>
        <p:txBody>
          <a:bodyPr>
            <a:normAutofit/>
          </a:bodyPr>
          <a:lstStyle/>
          <a:p>
            <a:endParaRPr lang="fr-FR" noProof="0" dirty="0"/>
          </a:p>
          <a:p>
            <a:endParaRPr lang="fr-FR" noProof="0" dirty="0"/>
          </a:p>
          <a:p>
            <a:r>
              <a:rPr lang="fr-FR" noProof="0" dirty="0"/>
              <a:t>Source: MSSS Québec</a:t>
            </a:r>
          </a:p>
          <a:p>
            <a:pPr marL="0" indent="0">
              <a:buNone/>
            </a:pPr>
            <a:r>
              <a:rPr lang="fr-FR" sz="1200" noProof="0" dirty="0">
                <a:hlinkClick r:id="rId2"/>
              </a:rPr>
              <a:t>https://www.msss.gouv.qc.ca/professionnels/statistiques/documents/urgences/Donnees_cumulatives_Urgence.csv</a:t>
            </a:r>
            <a:endParaRPr lang="fr-FR" sz="1200" noProof="0" dirty="0"/>
          </a:p>
          <a:p>
            <a:pPr marL="0" indent="0">
              <a:buNone/>
            </a:pPr>
            <a:endParaRPr lang="fr-FR" sz="1200" noProof="0" dirty="0"/>
          </a:p>
          <a:p>
            <a:pPr marL="0" indent="0">
              <a:buNone/>
            </a:pPr>
            <a:endParaRPr lang="fr-FR" sz="1200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5586D62-5421-E314-17B9-AC81182AF7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071970"/>
              </p:ext>
            </p:extLst>
          </p:nvPr>
        </p:nvGraphicFramePr>
        <p:xfrm>
          <a:off x="792946" y="2057386"/>
          <a:ext cx="5528140" cy="4525976"/>
        </p:xfrm>
        <a:graphic>
          <a:graphicData uri="http://schemas.openxmlformats.org/drawingml/2006/table">
            <a:tbl>
              <a:tblPr/>
              <a:tblGrid>
                <a:gridCol w="2015131">
                  <a:extLst>
                    <a:ext uri="{9D8B030D-6E8A-4147-A177-3AD203B41FA5}">
                      <a16:colId xmlns:a16="http://schemas.microsoft.com/office/drawing/2014/main" val="6351231"/>
                    </a:ext>
                  </a:extLst>
                </a:gridCol>
                <a:gridCol w="3513009">
                  <a:extLst>
                    <a:ext uri="{9D8B030D-6E8A-4147-A177-3AD203B41FA5}">
                      <a16:colId xmlns:a16="http://schemas.microsoft.com/office/drawing/2014/main" val="2883681693"/>
                    </a:ext>
                  </a:extLst>
                </a:gridCol>
              </a:tblGrid>
              <a:tr h="1616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Colonne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Signification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3235662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annee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Année des données (ex : 2024)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377681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cumul_periode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Période cumulative de l’année (mois ou semaine cumulée)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279631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rss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Réseau de services de santé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338618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region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Région sociosanitaire du Québec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086885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nom_etablissement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 de l’établissement hospitalier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340347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nom_installation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 précis de l’installation ou hôpital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142416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no_permis_installation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Numéro officiel de permis de l’installation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488306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nb_visites_total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total de visites à l’urgence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372984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nb_usagers_75ans_et_plus_total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total de patients âgés de 75 ans et plus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5757347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nb_usagers_sante_mentale_total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total de patients liés à des problèmes de santé mentale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470944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dms_total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Durée moyenne de séjour totale des patients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834411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nb_usagers_pec_total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total de patients pris en charge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610395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delai_pec_total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Délai moyen de prise en charge total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767428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nb_visites_ambulatoire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visites ambulatoires (sans civière)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805388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nb_usagers_75ans_et_plus_amb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de 75+ ans en ambulatoire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032285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nb_usagers_sante_mentale_amb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santé mentale ambulatoires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832373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dms_ambulatoire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Durée moyenne de séjour des patients ambulatoires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205070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nb_usagers_pec_ambulatoire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ambulatoires pris en charge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927300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delai_pec_ambulatoire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Délai moyen de prise en charge ambulatoire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1051422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nb_visites_sur_civiere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visites nécessitant une civière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932452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nb_usagers_sur_civiere_plus_24h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restés sur civière plus de 24h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467484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nb_usagers_sur_civiere_plus_48h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restés sur civière plus de 48h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17832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dms_sur_civiere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Durée moyenne de séjour des patients sur civière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888017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nb_usagers_pec_sur_civiere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sur civière pris en charge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911067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delai_pec_sur_civiere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Délai moyen de prise en charge des patients sur civière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900257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nb_usagers_75ans_et_plus_civ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de 75+ ans sur civière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146038"/>
                  </a:ext>
                </a:extLst>
              </a:tr>
              <a:tr h="1616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nb_usagers_sante_mentale_civ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Nombre de patients santé mentale sur civière</a:t>
                      </a:r>
                    </a:p>
                  </a:txBody>
                  <a:tcPr marL="8082" marR="8082" marT="808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6654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endParaRPr lang="fr-FR" sz="2800" noProof="0" dirty="0"/>
          </a:p>
          <a:p>
            <a:pPr>
              <a:buFontTx/>
              <a:buChar char="-"/>
            </a:pPr>
            <a:r>
              <a:rPr lang="fr-FR" sz="2800" dirty="0"/>
              <a:t>Valeur manquante</a:t>
            </a:r>
          </a:p>
          <a:p>
            <a:pPr>
              <a:buFontTx/>
              <a:buChar char="-"/>
            </a:pPr>
            <a:r>
              <a:rPr lang="fr-FR" sz="2800" dirty="0"/>
              <a:t>Valeur aberrante (</a:t>
            </a:r>
            <a:r>
              <a:rPr lang="fr-FR" sz="2800" dirty="0" err="1"/>
              <a:t>outlaiers</a:t>
            </a:r>
            <a:r>
              <a:rPr lang="fr-FR" sz="2800" dirty="0"/>
              <a:t>) -&gt; Box plot</a:t>
            </a:r>
          </a:p>
          <a:p>
            <a:pPr>
              <a:buFontTx/>
              <a:buChar char="-"/>
            </a:pPr>
            <a:r>
              <a:rPr lang="fr-FR" sz="2800" dirty="0"/>
              <a:t>Distribution de probabilité -&gt; Histogramme</a:t>
            </a:r>
            <a:endParaRPr lang="fr-FR" sz="2800" noProof="0" dirty="0"/>
          </a:p>
          <a:p>
            <a:pPr>
              <a:buFontTx/>
              <a:buChar char="-"/>
            </a:pPr>
            <a:r>
              <a:rPr lang="fr-FR" sz="2800" dirty="0"/>
              <a:t>Corrélations entre Xi et Y -&gt; </a:t>
            </a:r>
            <a:r>
              <a:rPr lang="fr-FR" sz="2800" dirty="0" err="1"/>
              <a:t>Heatmap</a:t>
            </a:r>
            <a:endParaRPr lang="fr-FR" sz="2800" dirty="0"/>
          </a:p>
          <a:p>
            <a:pPr>
              <a:buFontTx/>
              <a:buChar char="-"/>
            </a:pPr>
            <a:r>
              <a:rPr lang="fr-FR" sz="2800" dirty="0"/>
              <a:t>Identification des X catégorielle -&gt; Ordinal ou Nominal pour faire l'encodage du prétraitement</a:t>
            </a:r>
          </a:p>
          <a:p>
            <a:pPr>
              <a:buFontTx/>
              <a:buChar char="-"/>
            </a:pPr>
            <a:r>
              <a:rPr lang="fr-FR" sz="2800" dirty="0"/>
              <a:t>Identifier le débalancement des valeurs cible</a:t>
            </a:r>
            <a:endParaRPr lang="fr-FR" sz="28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Prétraitement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  <a:p>
            <a:r>
              <a:rPr lang="fr-FR" noProof="0" dirty="0"/>
              <a:t>Nettoyage de données </a:t>
            </a:r>
          </a:p>
          <a:p>
            <a:r>
              <a:rPr lang="fr-FR" noProof="0" dirty="0"/>
              <a:t>Encodage des variables catégorielles</a:t>
            </a:r>
          </a:p>
          <a:p>
            <a:r>
              <a:rPr lang="fr-FR" noProof="0" dirty="0"/>
              <a:t>Création de la cible </a:t>
            </a:r>
            <a:r>
              <a:rPr lang="fr-FR" dirty="0"/>
              <a:t>Y</a:t>
            </a:r>
            <a:endParaRPr lang="fr-FR" noProof="0" dirty="0"/>
          </a:p>
          <a:p>
            <a:endParaRPr lang="fr-FR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7472" y="99695"/>
            <a:ext cx="5943600" cy="1561465"/>
          </a:xfrm>
        </p:spPr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dirty="0" err="1"/>
              <a:t>Comparaison</a:t>
            </a:r>
            <a:r>
              <a:rPr dirty="0"/>
              <a:t> des </a:t>
            </a:r>
            <a:r>
              <a:rPr dirty="0" err="1"/>
              <a:t>modèles</a:t>
            </a: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612467F-72BF-2A5D-BDAF-33C3A01F9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4142392"/>
            <a:ext cx="7863840" cy="1752600"/>
          </a:xfrm>
        </p:spPr>
        <p:txBody>
          <a:bodyPr>
            <a:normAutofit/>
          </a:bodyPr>
          <a:lstStyle/>
          <a:p>
            <a:pPr algn="l"/>
            <a:r>
              <a:rPr lang="fr-FR" sz="2000" dirty="0" err="1">
                <a:solidFill>
                  <a:schemeClr val="tx1"/>
                </a:solidFill>
              </a:rPr>
              <a:t>Accuracy</a:t>
            </a:r>
            <a:r>
              <a:rPr lang="fr-FR" sz="2000" dirty="0">
                <a:solidFill>
                  <a:schemeClr val="tx1"/>
                </a:solidFill>
              </a:rPr>
              <a:t> : percentage total de bonnes prédictions</a:t>
            </a:r>
          </a:p>
          <a:p>
            <a:pPr algn="l"/>
            <a:r>
              <a:rPr lang="fr-FR" sz="2000" dirty="0">
                <a:solidFill>
                  <a:schemeClr val="tx1"/>
                </a:solidFill>
              </a:rPr>
              <a:t>Précision: détecte faux positifs</a:t>
            </a:r>
          </a:p>
          <a:p>
            <a:pPr algn="l"/>
            <a:r>
              <a:rPr lang="fr-FR" sz="2000" dirty="0">
                <a:solidFill>
                  <a:schemeClr val="tx1"/>
                </a:solidFill>
              </a:rPr>
              <a:t>Sensibilité: détecte faux négatifs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F1-score: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mesure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l’</a:t>
            </a:r>
            <a:r>
              <a:rPr lang="fr-FR" sz="2000" dirty="0">
                <a:solidFill>
                  <a:schemeClr val="tx1"/>
                </a:solidFill>
              </a:rPr>
              <a:t>équilibre entre précision et sensibilité</a:t>
            </a:r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l"/>
            <a:endParaRPr 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E18440-795D-0704-9B26-68AEFEBC7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219082"/>
              </p:ext>
            </p:extLst>
          </p:nvPr>
        </p:nvGraphicFramePr>
        <p:xfrm>
          <a:off x="640080" y="1783080"/>
          <a:ext cx="6601968" cy="2194560"/>
        </p:xfrm>
        <a:graphic>
          <a:graphicData uri="http://schemas.openxmlformats.org/drawingml/2006/table">
            <a:tbl>
              <a:tblPr/>
              <a:tblGrid>
                <a:gridCol w="1271016">
                  <a:extLst>
                    <a:ext uri="{9D8B030D-6E8A-4147-A177-3AD203B41FA5}">
                      <a16:colId xmlns:a16="http://schemas.microsoft.com/office/drawing/2014/main" val="3496795330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4292002197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601182715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704186847"/>
                    </a:ext>
                  </a:extLst>
                </a:gridCol>
                <a:gridCol w="1472184">
                  <a:extLst>
                    <a:ext uri="{9D8B030D-6E8A-4147-A177-3AD203B41FA5}">
                      <a16:colId xmlns:a16="http://schemas.microsoft.com/office/drawing/2014/main" val="105147088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Accuracy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Precision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Sensibilité</a:t>
                      </a: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F1-score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25337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MOD1-NB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0.81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0.80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0.81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0.80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61022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MOD2-DT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1.00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1.00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1.00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1.00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63662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MOD3-RF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1.00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1.00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1.00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1.00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2075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Difficultés rencontrées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  <a:p>
            <a:r>
              <a:rPr lang="fr-FR" noProof="0" dirty="0"/>
              <a:t>Compréhension du </a:t>
            </a:r>
            <a:r>
              <a:rPr lang="fr-FR" noProof="0" dirty="0" err="1"/>
              <a:t>dataset</a:t>
            </a:r>
            <a:r>
              <a:rPr lang="fr-FR" noProof="0" dirty="0"/>
              <a:t> </a:t>
            </a:r>
            <a:r>
              <a:rPr lang="fr-FR" sz="1800" noProof="0" dirty="0"/>
              <a:t>(</a:t>
            </a:r>
            <a:r>
              <a:rPr lang="en-US" sz="1800" dirty="0"/>
              <a:t>PEC, DMS, </a:t>
            </a:r>
            <a:r>
              <a:rPr lang="en-US" sz="1800" dirty="0" err="1"/>
              <a:t>civi</a:t>
            </a:r>
            <a:r>
              <a:rPr lang="fr-FR" sz="1800" dirty="0"/>
              <a:t>é</a:t>
            </a:r>
            <a:r>
              <a:rPr lang="en-US" sz="1800" dirty="0"/>
              <a:t>re</a:t>
            </a:r>
            <a:r>
              <a:rPr lang="fr-FR" sz="1800" noProof="0" dirty="0"/>
              <a:t>)</a:t>
            </a:r>
          </a:p>
          <a:p>
            <a:r>
              <a:rPr lang="fr-FR" noProof="0" dirty="0"/>
              <a:t>Encodage; </a:t>
            </a:r>
            <a:r>
              <a:rPr lang="fr-FR" sz="1800" noProof="0" dirty="0"/>
              <a:t>variable </a:t>
            </a:r>
            <a:r>
              <a:rPr lang="fr-FR" sz="1800" dirty="0"/>
              <a:t>catégoriale (région, nom établissement, nom installation</a:t>
            </a:r>
            <a:r>
              <a:rPr lang="fr-FR" sz="1800" noProof="0" dirty="0"/>
              <a:t>) : </a:t>
            </a:r>
            <a:r>
              <a:rPr lang="en-US" dirty="0"/>
              <a:t>Label Encoding </a:t>
            </a:r>
            <a:endParaRPr lang="fr-FR" sz="1800" noProof="0" dirty="0"/>
          </a:p>
          <a:p>
            <a:r>
              <a:rPr lang="fr-FR" noProof="0" dirty="0"/>
              <a:t>Choix de la cible; </a:t>
            </a:r>
            <a:r>
              <a:rPr lang="fr-FR" sz="1800" noProof="0" dirty="0"/>
              <a:t>le </a:t>
            </a:r>
            <a:r>
              <a:rPr lang="fr-FR" sz="1800" noProof="0" dirty="0" err="1"/>
              <a:t>dataset</a:t>
            </a:r>
            <a:r>
              <a:rPr lang="fr-FR" sz="1800" noProof="0" dirty="0"/>
              <a:t> ne contient pas le Y -&gt; </a:t>
            </a:r>
            <a:r>
              <a:rPr lang="fr-FR" sz="1800" noProof="0" dirty="0" err="1"/>
              <a:t>pd.qcut</a:t>
            </a:r>
            <a:r>
              <a:rPr lang="fr-FR" sz="1800" noProof="0" dirty="0"/>
              <a:t>()</a:t>
            </a:r>
          </a:p>
          <a:p>
            <a:r>
              <a:rPr lang="fr-FR" dirty="0"/>
              <a:t>Déterminer les X a éliminer </a:t>
            </a:r>
            <a:endParaRPr lang="fr-FR" sz="18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Compétences acquises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noProof="0" dirty="0"/>
          </a:p>
          <a:p>
            <a:r>
              <a:rPr lang="fr-FR" noProof="0" dirty="0"/>
              <a:t>Manipulation de module python pour ML</a:t>
            </a:r>
          </a:p>
          <a:p>
            <a:r>
              <a:rPr lang="fr-FR" noProof="0" dirty="0"/>
              <a:t>Bonne compréhension du Processus de développent d'un modèle prédictif supervisé en utilisant des méthodes de classification  </a:t>
            </a:r>
          </a:p>
          <a:p>
            <a:r>
              <a:rPr lang="fr-FR" dirty="0"/>
              <a:t>Bonne compréhension de déroulement dune analyse exploratoire de données </a:t>
            </a:r>
            <a:r>
              <a:rPr lang="fr-FR" noProof="0" dirty="0"/>
              <a:t>EDA</a:t>
            </a:r>
          </a:p>
          <a:p>
            <a:endParaRPr lang="fr-FR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endParaRPr dirty="0"/>
          </a:p>
          <a:p>
            <a:r>
              <a:rPr lang="fr-FR" dirty="0"/>
              <a:t>Le modèle </a:t>
            </a:r>
            <a:r>
              <a:rPr lang="fr-FR" b="1" dirty="0" err="1"/>
              <a:t>Naive</a:t>
            </a:r>
            <a:r>
              <a:rPr lang="fr-FR" b="1" dirty="0"/>
              <a:t> Bayes : </a:t>
            </a:r>
            <a:r>
              <a:rPr lang="fr-FR" dirty="0"/>
              <a:t>Rapide a entrainer et a prédire </a:t>
            </a:r>
            <a:endParaRPr lang="en-US" sz="1900" dirty="0"/>
          </a:p>
          <a:p>
            <a:r>
              <a:rPr lang="fr-FR" dirty="0"/>
              <a:t>Le modèle </a:t>
            </a:r>
            <a:r>
              <a:rPr lang="fr-FR" b="1" dirty="0" err="1"/>
              <a:t>Decision</a:t>
            </a:r>
            <a:r>
              <a:rPr lang="fr-FR" b="1" dirty="0"/>
              <a:t> Tree  </a:t>
            </a:r>
            <a:r>
              <a:rPr lang="fr-FR" dirty="0"/>
              <a:t>: </a:t>
            </a:r>
            <a:r>
              <a:rPr lang="en-US" dirty="0"/>
              <a:t>Facile a </a:t>
            </a:r>
            <a:r>
              <a:rPr lang="en-US" dirty="0" err="1"/>
              <a:t>compendre</a:t>
            </a:r>
            <a:r>
              <a:rPr lang="en-US" dirty="0"/>
              <a:t> </a:t>
            </a:r>
            <a:r>
              <a:rPr lang="en-US" dirty="0" err="1"/>
              <a:t>fonctionne</a:t>
            </a:r>
            <a:r>
              <a:rPr lang="en-US" dirty="0"/>
              <a:t> avec </a:t>
            </a:r>
            <a:r>
              <a:rPr lang="en-US" dirty="0" err="1"/>
              <a:t>donnees</a:t>
            </a:r>
            <a:r>
              <a:rPr lang="en-US" dirty="0"/>
              <a:t> </a:t>
            </a:r>
            <a:r>
              <a:rPr lang="en-US" dirty="0" err="1"/>
              <a:t>numerique</a:t>
            </a:r>
            <a:r>
              <a:rPr lang="en-US" dirty="0"/>
              <a:t> et </a:t>
            </a:r>
            <a:r>
              <a:rPr lang="en-US" dirty="0" err="1"/>
              <a:t>categorielle</a:t>
            </a:r>
            <a:endParaRPr lang="fr-FR" b="1" dirty="0"/>
          </a:p>
          <a:p>
            <a:r>
              <a:rPr lang="fr-FR" dirty="0"/>
              <a:t>et</a:t>
            </a:r>
            <a:r>
              <a:rPr lang="fr-FR" b="1" dirty="0"/>
              <a:t> </a:t>
            </a:r>
            <a:r>
              <a:rPr lang="fr-FR" sz="2000" b="1" dirty="0"/>
              <a:t>Random Forest</a:t>
            </a:r>
            <a:r>
              <a:rPr lang="fr-FR" sz="2000" dirty="0"/>
              <a:t>: Plus précis qu’un arbre de décision </a:t>
            </a:r>
            <a:endParaRPr sz="1900" dirty="0"/>
          </a:p>
          <a:p>
            <a:r>
              <a:rPr lang="en-US" dirty="0" err="1"/>
              <a:t>Limites</a:t>
            </a:r>
            <a:r>
              <a:rPr lang="en-US" dirty="0"/>
              <a:t> du </a:t>
            </a:r>
            <a:r>
              <a:rPr lang="en-US" dirty="0" err="1"/>
              <a:t>projet</a:t>
            </a:r>
            <a:r>
              <a:rPr lang="en-US" dirty="0"/>
              <a:t> :</a:t>
            </a:r>
            <a:r>
              <a:rPr lang="fr-FR" sz="2100" dirty="0"/>
              <a:t>Les modèles testés restent relativement simples</a:t>
            </a:r>
          </a:p>
          <a:p>
            <a:r>
              <a:rPr lang="fr-FR" sz="2100" dirty="0"/>
              <a:t>La qualité des prédictions dépend fortement du choix de la variable cible construite artificiellement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133</TotalTime>
  <Words>707</Words>
  <Application>Microsoft Office PowerPoint</Application>
  <PresentationFormat>On-screen Show (4:3)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 Narrow</vt:lpstr>
      <vt:lpstr>Arial</vt:lpstr>
      <vt:lpstr>Arial Unicode MS</vt:lpstr>
      <vt:lpstr>Calibri</vt:lpstr>
      <vt:lpstr>Consolas</vt:lpstr>
      <vt:lpstr>Poppins</vt:lpstr>
      <vt:lpstr>Trebuchet MS</vt:lpstr>
      <vt:lpstr>Wingdings 3</vt:lpstr>
      <vt:lpstr>Facet</vt:lpstr>
      <vt:lpstr>Analyse Prédictive  des Urgences</vt:lpstr>
      <vt:lpstr>Introduction</vt:lpstr>
      <vt:lpstr>Processus</vt:lpstr>
      <vt:lpstr>Collecte de données </vt:lpstr>
      <vt:lpstr>EDA</vt:lpstr>
      <vt:lpstr>Prétraitement</vt:lpstr>
      <vt:lpstr>   Comparaison des modèles</vt:lpstr>
      <vt:lpstr>Difficultés rencontrées</vt:lpstr>
      <vt:lpstr>Compétences acquises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salim zergoug</cp:lastModifiedBy>
  <cp:revision>13</cp:revision>
  <dcterms:created xsi:type="dcterms:W3CDTF">2013-01-27T09:14:16Z</dcterms:created>
  <dcterms:modified xsi:type="dcterms:W3CDTF">2026-05-29T22:15:11Z</dcterms:modified>
  <cp:category/>
</cp:coreProperties>
</file>