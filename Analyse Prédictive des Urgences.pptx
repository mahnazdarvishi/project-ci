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1" r:id="rId6"/>
    <p:sldId id="260" r:id="rId7"/>
    <p:sldId id="272" r:id="rId8"/>
    <p:sldId id="269" r:id="rId9"/>
    <p:sldId id="270" r:id="rId10"/>
    <p:sldId id="273" r:id="rId11"/>
    <p:sldId id="274" r:id="rId12"/>
    <p:sldId id="267" r:id="rId13"/>
  </p:sldIdLst>
  <p:sldSz cx="12192000" cy="6858000"/>
  <p:notesSz cx="6858000" cy="9144000"/>
  <p:embeddedFontLst>
    <p:embeddedFont>
      <p:font typeface="Aptos Narrow" panose="020B000402020202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158B4C-9F2D-4A7D-BB43-34106E6C5E46}">
  <a:tblStyle styleId="{62158B4C-9F2D-4A7D-BB43-34106E6C5E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EA1E1BC-B63B-D1E5-55DF-CCD0D46FD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8960C6BE-46B9-879F-4542-4DDD38AFC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2B8B64FA-B920-B3AA-A2B3-ED4D17C799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592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49059BA-0A7C-78DA-D8BD-E5C98166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B0C9A9A1-9B08-233E-4EC2-64303FEEB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4EC53764-0AFC-48CD-7E61-1D3DE5E4A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8971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420E10D-5697-E7DA-3F54-1504B028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364907D4-8596-969C-5931-35C0B04506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1D927B95-8768-ADA9-91A0-DF2739309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712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013DEF-66E3-B12D-145C-74608A0F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723843C4-7C84-7D3B-C52A-0960226B4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C30A0958-A5DD-ABCA-DE08-17617FF6A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4085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93F5816-7414-964D-2F43-773035BF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8E26FA16-C0A8-03FD-C14F-88BB80056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C7341CF6-42A5-ACFC-B5DB-0AD22407DF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8650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40B677E-6F2B-594A-7AC3-9C9B47787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>
            <a:extLst>
              <a:ext uri="{FF2B5EF4-FFF2-40B4-BE49-F238E27FC236}">
                <a16:creationId xmlns:a16="http://schemas.microsoft.com/office/drawing/2014/main" id="{B2C90D7F-75CE-6772-C9C4-D6DAD09065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EA20FD89-011F-0D9B-9408-591349CB89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58848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sss.gouv.qc.ca/professionnels/statistiques/documents/urgences/Donnees_cumulatives_Urgence.cs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76525" y="1309687"/>
            <a:ext cx="7180897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Analyse Prédictive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25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des Urgences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71762" y="3652837"/>
            <a:ext cx="684847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/>
              <a:t>Naive Bayes vs Decision Tree vs Random Forest        (MSSS Québec)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4276725" y="4691062"/>
            <a:ext cx="36385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 : Mahnaz Darvishi &amp; Salim Zergoug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76725" y="5148262"/>
            <a:ext cx="3638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Présenté à : Professeur Hafed Benteftifa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/>
        </p:nvSpPr>
        <p:spPr>
          <a:xfrm>
            <a:off x="5524500" y="2452687"/>
            <a:ext cx="11430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565558" y="2795587"/>
            <a:ext cx="761539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I. </a:t>
            </a:r>
            <a:r>
              <a:rPr lang="en-US" sz="5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Contexte</a:t>
            </a:r>
            <a:r>
              <a:rPr lang="en-US" sz="5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&amp; Objectif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3328987" y="3995737"/>
            <a:ext cx="55340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Analyse de la saturation du réseau hospitalier québécois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09787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2590800"/>
            <a:ext cx="5550693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Une saturation </a:t>
            </a:r>
            <a:r>
              <a:rPr lang="en-US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systémique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171825"/>
            <a:ext cx="5286375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20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Le surpeuplement des urgences est un défi critique de sécurité publique. Une gestion purement réactive ne permet plus de garantir des soins optimaux. </a:t>
            </a:r>
          </a:p>
          <a:p>
            <a:pPr>
              <a:lnSpc>
                <a:spcPct val="150000"/>
              </a:lnSpc>
            </a:pPr>
            <a:endParaRPr lang="fr-FR" sz="1200" noProof="0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>
              <a:lnSpc>
                <a:spcPct val="150000"/>
              </a:lnSpc>
            </a:pPr>
            <a:r>
              <a:rPr lang="fr-FR" sz="1200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 but principal de notre projet était de développer un modèle de machine </a:t>
            </a:r>
            <a:r>
              <a:rPr lang="fr-FR" sz="1200" noProof="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</a:t>
            </a:r>
            <a:r>
              <a:rPr lang="fr-FR" sz="1200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capable de prédire le niveau d’occupation des urgences selon les classes :</a:t>
            </a:r>
          </a:p>
          <a:p>
            <a:pPr>
              <a:lnSpc>
                <a:spcPct val="150000"/>
              </a:lnSpc>
            </a:pPr>
            <a:endParaRPr lang="en-US" altLang="en-US" sz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fr-FR" sz="1200" dirty="0">
                <a:latin typeface="Latos"/>
              </a:rPr>
              <a:t>0 = Faible</a:t>
            </a:r>
          </a:p>
          <a:p>
            <a:r>
              <a:rPr lang="fr-FR" sz="1200" dirty="0">
                <a:latin typeface="Latos"/>
              </a:rPr>
              <a:t>1 = Moyenne</a:t>
            </a:r>
          </a:p>
          <a:p>
            <a:r>
              <a:rPr lang="fr-FR" sz="1200" dirty="0">
                <a:latin typeface="Latos"/>
              </a:rPr>
              <a:t>2 = Élevée</a:t>
            </a:r>
          </a:p>
          <a:p>
            <a:pPr>
              <a:lnSpc>
                <a:spcPct val="150000"/>
              </a:lnSpc>
            </a:pPr>
            <a:endParaRPr lang="en-US" altLang="en-US" sz="18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19312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La Crise de Saturation au Québec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1509712"/>
            <a:ext cx="3492549" cy="224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6797" y="1509712"/>
            <a:ext cx="3492549" cy="224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2735" y="1523999"/>
            <a:ext cx="3492549" cy="223418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619125" y="1787350"/>
            <a:ext cx="330204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P1 : Collect de données 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30400" y="2411237"/>
            <a:ext cx="2921049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Acquisition des données depuis le site web du </a:t>
            </a:r>
            <a:r>
              <a:rPr lang="fr-FR" sz="1200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fr-FR" sz="1200" noProof="0" dirty="0"/>
              <a:t>inistère de la Santé et des Services Sociaux du Québec (MSSS)</a:t>
            </a:r>
            <a:r>
              <a:rPr lang="fr-FR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endParaRPr lang="fr-FR" noProof="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4345757" y="1787349"/>
            <a:ext cx="321084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P2 : Analyse EDA</a:t>
            </a:r>
            <a:endParaRPr lang="fr-FR" noProof="0"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4490652" y="2391893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1200" noProof="0" dirty="0"/>
              <a:t>Analyse exploratoire des données (EDA) permettant d’identifier les tendances, relations et anomalies présentes dans le jeu de données.</a:t>
            </a:r>
            <a:endParaRPr lang="fr-FR" noProof="0"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8272447" y="1787348"/>
            <a:ext cx="2921049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fr-FR" sz="22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P3 : </a:t>
            </a:r>
            <a:r>
              <a:rPr lang="fr-FR" sz="2250" b="1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Prétraitement </a:t>
            </a:r>
            <a:endParaRPr lang="fr-FR" noProof="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272447" y="2411234"/>
            <a:ext cx="29210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fr-FR" sz="1200" noProof="0" dirty="0"/>
              <a:t>Étape de nettoyage et de transformation des données afin de préparer un jeu de données fiable pour l’analyse et la modélisation</a:t>
            </a:r>
            <a:endParaRPr lang="fr-FR" noProof="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Processus P1 - P3</a:t>
            </a:r>
            <a:endParaRPr dirty="0"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19;p16" descr="image.png">
            <a:extLst>
              <a:ext uri="{FF2B5EF4-FFF2-40B4-BE49-F238E27FC236}">
                <a16:creationId xmlns:a16="http://schemas.microsoft.com/office/drawing/2014/main" id="{922BBCE2-881D-F519-9886-02393BD3246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9195" y="4016479"/>
            <a:ext cx="3492549" cy="224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9;p16" descr="image.png">
            <a:extLst>
              <a:ext uri="{FF2B5EF4-FFF2-40B4-BE49-F238E27FC236}">
                <a16:creationId xmlns:a16="http://schemas.microsoft.com/office/drawing/2014/main" id="{B913447A-ED10-1047-BD16-F7578FBFFE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323" y="4016479"/>
            <a:ext cx="3492549" cy="22484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8B466C-75F4-752F-F33A-4CF3E1A272BE}"/>
              </a:ext>
            </a:extLst>
          </p:cNvPr>
          <p:cNvSpPr txBox="1"/>
          <p:nvPr/>
        </p:nvSpPr>
        <p:spPr>
          <a:xfrm>
            <a:off x="2177971" y="4262699"/>
            <a:ext cx="305239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50" b="1" dirty="0">
                <a:solidFill>
                  <a:srgbClr val="0D948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P4 : 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Développent du modèle  </a:t>
            </a:r>
            <a:endParaRPr lang="fr-FR" sz="2400" dirty="0"/>
          </a:p>
        </p:txBody>
      </p:sp>
      <p:sp>
        <p:nvSpPr>
          <p:cNvPr id="7" name="Google Shape;123;p16">
            <a:extLst>
              <a:ext uri="{FF2B5EF4-FFF2-40B4-BE49-F238E27FC236}">
                <a16:creationId xmlns:a16="http://schemas.microsoft.com/office/drawing/2014/main" id="{5AD611A2-E150-79D0-0426-32EB3E25AAEB}"/>
              </a:ext>
            </a:extLst>
          </p:cNvPr>
          <p:cNvSpPr txBox="1"/>
          <p:nvPr/>
        </p:nvSpPr>
        <p:spPr>
          <a:xfrm>
            <a:off x="2390924" y="5047529"/>
            <a:ext cx="2921049" cy="946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350" b="0" i="0" u="none" strike="noStrike" cap="none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 Naive Bayes</a:t>
            </a:r>
          </a:p>
          <a:p>
            <a:pPr lvl="0">
              <a:lnSpc>
                <a:spcPct val="150000"/>
              </a:lnSpc>
            </a:pPr>
            <a:r>
              <a:rPr lang="en-US" sz="13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 Decision Tree</a:t>
            </a:r>
          </a:p>
          <a:p>
            <a:pPr lvl="0">
              <a:lnSpc>
                <a:spcPct val="150000"/>
              </a:lnSpc>
            </a:pPr>
            <a:r>
              <a:rPr lang="en-US" sz="1350" noProof="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- Random Forest</a:t>
            </a:r>
            <a:endParaRPr lang="fr-FR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FC341-5848-41E8-A209-A081046FBDD1}"/>
              </a:ext>
            </a:extLst>
          </p:cNvPr>
          <p:cNvSpPr txBox="1"/>
          <p:nvPr/>
        </p:nvSpPr>
        <p:spPr>
          <a:xfrm>
            <a:off x="5993071" y="4178062"/>
            <a:ext cx="305239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250" b="1" dirty="0">
                <a:solidFill>
                  <a:srgbClr val="0D9488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P5 : 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 lang="fr-F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5B2A2-F68D-6C86-1B35-A2240C08BFB1}"/>
              </a:ext>
            </a:extLst>
          </p:cNvPr>
          <p:cNvSpPr txBox="1"/>
          <p:nvPr/>
        </p:nvSpPr>
        <p:spPr>
          <a:xfrm>
            <a:off x="6048940" y="4677394"/>
            <a:ext cx="313276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/>
              <a:t>Mesurer la performance du modèle sa précision, sa fiabilité et sa capacité à bien prédire de nouvelles données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14E1459-0677-45C9-FB74-503A59D3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2B46478B-0135-D01F-1C63-985B2BB2CA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3C4C23FF-3425-0C8F-A2EF-20D34F2E9888}"/>
              </a:ext>
            </a:extLst>
          </p:cNvPr>
          <p:cNvSpPr txBox="1"/>
          <p:nvPr/>
        </p:nvSpPr>
        <p:spPr>
          <a:xfrm>
            <a:off x="5819775" y="2708076"/>
            <a:ext cx="609076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Source: MSSS Québec</a:t>
            </a:r>
          </a:p>
        </p:txBody>
      </p:sp>
      <p:sp>
        <p:nvSpPr>
          <p:cNvPr id="142" name="Google Shape;142;p17">
            <a:extLst>
              <a:ext uri="{FF2B5EF4-FFF2-40B4-BE49-F238E27FC236}">
                <a16:creationId xmlns:a16="http://schemas.microsoft.com/office/drawing/2014/main" id="{A0F2FEA4-2E48-632E-AE54-9E131EBF8BF4}"/>
              </a:ext>
            </a:extLst>
          </p:cNvPr>
          <p:cNvSpPr txBox="1"/>
          <p:nvPr/>
        </p:nvSpPr>
        <p:spPr>
          <a:xfrm>
            <a:off x="5819775" y="3289101"/>
            <a:ext cx="58007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fr-FR" dirty="0">
                <a:hlinkClick r:id="rId4"/>
              </a:rPr>
              <a:t>https://www.msss.gouv.qc.ca/professionnels/statistiques/documents/urgences/Donnees_cumulatives_Urgence.csv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802B28C6-D379-0974-678E-5E78DEF3F813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Collect de données </a:t>
            </a:r>
            <a:endParaRPr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17EAFEA2-67CF-E8ED-121C-D0D4DF4C3565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7E4BB0-7627-BC39-376B-11B6221210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91751"/>
              </p:ext>
            </p:extLst>
          </p:nvPr>
        </p:nvGraphicFramePr>
        <p:xfrm>
          <a:off x="567860" y="1540688"/>
          <a:ext cx="5528140" cy="4525976"/>
        </p:xfrm>
        <a:graphic>
          <a:graphicData uri="http://schemas.openxmlformats.org/drawingml/2006/table">
            <a:tbl>
              <a:tblPr/>
              <a:tblGrid>
                <a:gridCol w="2015131">
                  <a:extLst>
                    <a:ext uri="{9D8B030D-6E8A-4147-A177-3AD203B41FA5}">
                      <a16:colId xmlns:a16="http://schemas.microsoft.com/office/drawing/2014/main" val="6351231"/>
                    </a:ext>
                  </a:extLst>
                </a:gridCol>
                <a:gridCol w="3513009">
                  <a:extLst>
                    <a:ext uri="{9D8B030D-6E8A-4147-A177-3AD203B41FA5}">
                      <a16:colId xmlns:a16="http://schemas.microsoft.com/office/drawing/2014/main" val="2883681693"/>
                    </a:ext>
                  </a:extLst>
                </a:gridCol>
              </a:tblGrid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Colonne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235662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annee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Année des données (ex : 2024)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77681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cumul_periode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Période cumulative de l’année (mois ou semaine cumulée)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279631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rss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Réseau de services de santé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338618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region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Région sociosanitaire du Québec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086885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nom_etablissement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 de l’établissement hospitalier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340347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nom_installation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 précis de l’installation ou hôpital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142416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no_permis_installation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Numéro officiel de permis de l’installation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88306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visites à l’urgence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72984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âgés de 75 ans et plus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57347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liés à des problèmes de santé mentale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470944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totale des patients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834411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10395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767428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visites ambulatoires (sans civière)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805388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nb_usagers_75ans_et_plus_amb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de 75+ ans en 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32285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nb_usagers_sante_mentale_amb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santé mentale ambulatoires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832373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des patients ambulatoires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205070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ambulatoires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27300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51422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visites nécessitant une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932452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nb_usagers_sur_civiere_plus_24h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restés sur civière plus de 24h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7484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nb_usagers_sur_civiere_plus_48h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restés sur civière plus de 48h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7832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des patients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888017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sur civière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911067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des patients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900257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nb_usagers_75ans_et_plus_civ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de 75+ ans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146038"/>
                  </a:ext>
                </a:extLst>
              </a:tr>
              <a:tr h="16164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nb_usagers_sante_mentale_civ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Trebuchet MS" panose="020B0603020202020204"/>
                          <a:sym typeface="Arial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santé mentale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65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246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98564"/>
            <a:ext cx="10593324" cy="475476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1569824"/>
            <a:ext cx="10000488" cy="506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Valeur manquante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Valeur aberrante (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outlaiers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) [ Box plot]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Distribution de </a:t>
            </a:r>
            <a:r>
              <a:rPr lang="en-US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probabilité</a:t>
            </a: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[</a:t>
            </a:r>
            <a:r>
              <a:rPr lang="en-US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Histogramme</a:t>
            </a: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Corrélations entre Xi et Y [ 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Heatmap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Identification des X catégorielle : Ordinal ou Nominal pour faire l'encodage du prétraitement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Identifier le débalancement des valeurs cible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EDA : </a:t>
            </a:r>
            <a:r>
              <a:rPr lang="fr-FR" sz="31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Analyse Exploratoire de Données 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2BAEB1F-C7A1-01D6-E0B1-DAEF66C37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2E86309A-C87B-7900-81F0-E46CA13CDC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AD77AD22-F25F-E0BD-F4E2-F7ACFA4FDA3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298564"/>
            <a:ext cx="10753344" cy="549542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9B367581-3879-5766-9ED8-76173F5D6D9E}"/>
              </a:ext>
            </a:extLst>
          </p:cNvPr>
          <p:cNvSpPr txBox="1"/>
          <p:nvPr/>
        </p:nvSpPr>
        <p:spPr>
          <a:xfrm>
            <a:off x="774192" y="1463641"/>
            <a:ext cx="10000488" cy="518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Nettoyage de données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Encodage des variables catégorielles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Création de la cible 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SÉPARATION des 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Xs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ET Y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ENCODAGE 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DES VARIABLES CATÉGORIELLES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TRAIN TEST SPLIT (20% Test - 80% Training)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ENTRAÎNEMENT DU MODÈLE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fr-FR" sz="220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20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PRÉDICTIONS</a:t>
            </a:r>
            <a:endParaRPr sz="2200" dirty="0"/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2FF30EEA-5A30-39E5-528D-F3DBCCBC35D2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Prétraitement et Développement du modèle</a:t>
            </a:r>
            <a:endParaRPr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263AE66C-8441-381C-308C-1574F6B336EB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74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424A283-463C-31EF-CB4D-E1532720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80A7FF5F-2959-AA74-0AEF-75BD2671AD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8C3C7FCA-A3BF-5CFC-AABF-843F70B980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53048"/>
            <a:ext cx="8060436" cy="15070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7FF30E1D-5776-E6AE-9C8B-78D8FBD78DA5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Comparaison des modèles </a:t>
            </a:r>
            <a:endParaRPr lang="fr-FR" noProof="0"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A406DD46-2340-F6C1-AB03-E9F999A635F9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2CED99-D147-B997-5178-C2C688DB9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541153"/>
              </p:ext>
            </p:extLst>
          </p:nvPr>
        </p:nvGraphicFramePr>
        <p:xfrm>
          <a:off x="571500" y="1577161"/>
          <a:ext cx="9669780" cy="163068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1933956">
                  <a:extLst>
                    <a:ext uri="{9D8B030D-6E8A-4147-A177-3AD203B41FA5}">
                      <a16:colId xmlns:a16="http://schemas.microsoft.com/office/drawing/2014/main" val="838746713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857481994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2927700784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3936084156"/>
                    </a:ext>
                  </a:extLst>
                </a:gridCol>
                <a:gridCol w="1933956">
                  <a:extLst>
                    <a:ext uri="{9D8B030D-6E8A-4147-A177-3AD203B41FA5}">
                      <a16:colId xmlns:a16="http://schemas.microsoft.com/office/drawing/2014/main" val="2309284955"/>
                    </a:ext>
                  </a:extLst>
                </a:gridCol>
              </a:tblGrid>
              <a:tr h="186762">
                <a:tc>
                  <a:txBody>
                    <a:bodyPr/>
                    <a:lstStyle/>
                    <a:p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cap="none" noProof="0" dirty="0" err="1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Accuracy</a:t>
                      </a:r>
                      <a:endParaRPr lang="fr-FR" noProof="0" dirty="0"/>
                    </a:p>
                    <a:p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i="0" u="none" strike="noStrike" cap="none" noProof="0" dirty="0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Précision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i="0" u="none" strike="noStrike" cap="none" noProof="0" dirty="0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Sensibilité 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i="0" u="none" strike="noStrike" cap="none" noProof="0" dirty="0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F1-Score</a:t>
                      </a:r>
                      <a:endParaRPr lang="fr-FR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913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 err="1"/>
                        <a:t>Naive</a:t>
                      </a:r>
                      <a:r>
                        <a:rPr lang="fr-FR" noProof="0" dirty="0"/>
                        <a:t> Bayes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907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noProof="0" dirty="0" err="1"/>
                        <a:t>Decision</a:t>
                      </a:r>
                      <a:r>
                        <a:rPr lang="fr-FR" noProof="0" dirty="0"/>
                        <a:t> Tree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50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noProof="0" dirty="0"/>
                        <a:t>1.00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064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130D8D-8E14-4F80-3662-A2AA98FFB168}"/>
              </a:ext>
            </a:extLst>
          </p:cNvPr>
          <p:cNvSpPr txBox="1"/>
          <p:nvPr/>
        </p:nvSpPr>
        <p:spPr>
          <a:xfrm>
            <a:off x="571500" y="4326732"/>
            <a:ext cx="61584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Accuracy</a:t>
            </a:r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 : Percentage total de bonnes prédictions</a:t>
            </a:r>
          </a:p>
          <a:p>
            <a:pPr algn="l"/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Précision: Détecte faux positifs</a:t>
            </a:r>
          </a:p>
          <a:p>
            <a:pPr algn="l"/>
            <a:r>
              <a:rPr lang="fr-FR" sz="1400" dirty="0">
                <a:solidFill>
                  <a:schemeClr val="tx1"/>
                </a:solidFill>
                <a:latin typeface="Consolas" panose="020B0609020204030204" pitchFamily="49" charset="0"/>
              </a:rPr>
              <a:t>Sensibilité: Détecte faux négatifs</a:t>
            </a:r>
          </a:p>
          <a:p>
            <a:pPr algn="l"/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F1-score: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esure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</a:rPr>
              <a:t> l’</a:t>
            </a:r>
            <a:r>
              <a:rPr lang="fr-FR" sz="1400" dirty="0">
                <a:solidFill>
                  <a:schemeClr val="tx1"/>
                </a:solidFill>
              </a:rPr>
              <a:t>équilibre entre précision et sensibilité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51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C663CD-CEB8-821E-F811-70DC5D0F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8A641D60-30F4-DD35-7F3D-E010549805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D94D1D14-3E7A-C5CF-A191-B5FFF369C4E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4"/>
            <a:ext cx="9432036" cy="4543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38E1B73C-F336-A382-C7F4-29F22160BD1A}"/>
              </a:ext>
            </a:extLst>
          </p:cNvPr>
          <p:cNvSpPr txBox="1"/>
          <p:nvPr/>
        </p:nvSpPr>
        <p:spPr>
          <a:xfrm>
            <a:off x="762000" y="2020326"/>
            <a:ext cx="8875776" cy="5062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-Compréhension du 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(PEC, DMS, 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civiére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-Encodage; variable catégoriale (région, nom établissement, nom installation) : Label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Encoding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-Choix de la cible; le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dataset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ne contient pas le Y : 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pd.qcut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-Déterminer les X a éliminer </a:t>
            </a:r>
          </a:p>
          <a:p>
            <a:pPr lvl="0"/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33E144F8-1326-4874-F058-EC538A8A8997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Difficultés rencontrées </a:t>
            </a:r>
            <a:endParaRPr lang="fr-FR" noProof="0"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804E9F03-2DEB-0AC7-8246-93783CB9FB78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576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3C07F1D-A58C-14EB-160B-F1228AF7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B88675EC-48CD-8B55-4DF9-F056E11D83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8D408053-48AF-37FA-17B8-20108A9222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4"/>
            <a:ext cx="9432036" cy="454342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A7AB3B70-8509-67DB-F134-8A2F8EE50198}"/>
              </a:ext>
            </a:extLst>
          </p:cNvPr>
          <p:cNvSpPr txBox="1"/>
          <p:nvPr/>
        </p:nvSpPr>
        <p:spPr>
          <a:xfrm>
            <a:off x="762000" y="2020326"/>
            <a:ext cx="8875776" cy="6101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-CI/CD : Git et Git hub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-Manipulation de module python pour ML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-Bonne compréhension du Processus de développent d'un modèle prédictif supervisé en utilisant des méthodes de classification 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-Bonne compréhension de déroulement dune analyse exploratoire de données EDA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D4B4EF98-5BD4-55F3-0990-9F26CA617BBB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Compétences acquises  </a:t>
            </a:r>
            <a:endParaRPr lang="fr-FR" noProof="0"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6FA2FF5C-5371-D117-15B3-4031A956EDF0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5063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27773F-6F74-76E0-8F41-0C962A09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>
            <a:extLst>
              <a:ext uri="{FF2B5EF4-FFF2-40B4-BE49-F238E27FC236}">
                <a16:creationId xmlns:a16="http://schemas.microsoft.com/office/drawing/2014/main" id="{ED2D2DCD-C3E5-FB88-E23B-37430BCC18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68E84CC5-5BCE-79FB-1FBB-CF564303380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3870" y="1377314"/>
            <a:ext cx="9446514" cy="519722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>
            <a:extLst>
              <a:ext uri="{FF2B5EF4-FFF2-40B4-BE49-F238E27FC236}">
                <a16:creationId xmlns:a16="http://schemas.microsoft.com/office/drawing/2014/main" id="{2637CCE4-57F9-7CA9-D5AD-AEEB004784CD}"/>
              </a:ext>
            </a:extLst>
          </p:cNvPr>
          <p:cNvSpPr txBox="1"/>
          <p:nvPr/>
        </p:nvSpPr>
        <p:spPr>
          <a:xfrm>
            <a:off x="619125" y="1743075"/>
            <a:ext cx="9046084" cy="8179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-Le modèle </a:t>
            </a:r>
            <a:r>
              <a:rPr lang="fr-FR" sz="2250" b="1" i="0" u="none" strike="noStrike" cap="none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Naive</a:t>
            </a:r>
            <a:r>
              <a:rPr lang="fr-FR" sz="2250" b="1" i="0" u="none" strike="noStrike" cap="none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Bayes : Rapide a entrainer et a prédire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-Le modèle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Decision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Tree  : Facile a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compendre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fonctionne avec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donnees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numèrique</a:t>
            </a:r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et </a:t>
            </a:r>
            <a:r>
              <a:rPr lang="fr-FR" sz="2250" b="1" dirty="0" err="1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catègorielle</a:t>
            </a:r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-Random Forest: Plus précis qu’un arbre de décision 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-Limites du projet : Les modèles testés restent relativement simples</a:t>
            </a: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r>
              <a:rPr lang="fr-FR" sz="2250" b="1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- Limites du projet : La qualité des prédictions dépend fortement du choix de la variable cible construite artificiellement</a:t>
            </a:r>
          </a:p>
          <a:p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fr-FR" sz="2250" b="1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endParaRPr lang="en-US" sz="2250" b="1" i="0" u="none" strike="noStrike" cap="none" dirty="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250" b="1" dirty="0">
              <a:solidFill>
                <a:srgbClr val="0D9488"/>
              </a:solidFill>
              <a:latin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17">
            <a:extLst>
              <a:ext uri="{FF2B5EF4-FFF2-40B4-BE49-F238E27FC236}">
                <a16:creationId xmlns:a16="http://schemas.microsoft.com/office/drawing/2014/main" id="{2E3DA18C-3572-7920-D593-E0E42B9485BC}"/>
              </a:ext>
            </a:extLst>
          </p:cNvPr>
          <p:cNvSpPr txBox="1"/>
          <p:nvPr/>
        </p:nvSpPr>
        <p:spPr>
          <a:xfrm>
            <a:off x="762000" y="571500"/>
            <a:ext cx="1140142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150" b="1" i="0" u="none" strike="noStrike" cap="none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lang="fr-FR" noProof="0" dirty="0"/>
          </a:p>
        </p:txBody>
      </p:sp>
      <p:sp>
        <p:nvSpPr>
          <p:cNvPr id="145" name="Google Shape;145;p17">
            <a:extLst>
              <a:ext uri="{FF2B5EF4-FFF2-40B4-BE49-F238E27FC236}">
                <a16:creationId xmlns:a16="http://schemas.microsoft.com/office/drawing/2014/main" id="{9028BBED-B72E-EB65-F3F6-A6090C63634B}"/>
              </a:ext>
            </a:extLst>
          </p:cNvPr>
          <p:cNvSpPr/>
          <p:nvPr/>
        </p:nvSpPr>
        <p:spPr>
          <a:xfrm>
            <a:off x="571500" y="571500"/>
            <a:ext cx="95250" cy="60007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051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295275" y="1862137"/>
            <a:ext cx="1160145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Questions ?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3348037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Merci de votre attention.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571500" y="41957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Projet Final - Analyse Prédictive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459581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Session Hiver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972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 Narrow</vt:lpstr>
      <vt:lpstr>Lato</vt:lpstr>
      <vt:lpstr>Latos</vt:lpstr>
      <vt:lpstr>Arial</vt:lpstr>
      <vt:lpstr>Consolas</vt:lpstr>
      <vt:lpstr>Poppins</vt:lpstr>
      <vt:lpstr>Arial Unicode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salim zergoug</cp:lastModifiedBy>
  <cp:revision>4</cp:revision>
  <dcterms:modified xsi:type="dcterms:W3CDTF">2026-06-04T00:21:11Z</dcterms:modified>
</cp:coreProperties>
</file>